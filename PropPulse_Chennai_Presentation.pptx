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PropPulse Chennai: House Price &amp; Uncertainty Engine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Capstone 2 — House Price Estimation Using Regression</a:t>
            </a:r>
          </a:p>
          <a:p>
            <a:r>
              <a:t>Point Valuation + 90% Quantile Prediction Intervals + Explainable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Project Scope, Target &amp; Audience (Steps 1–2)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000"/>
            </a:pPr>
            <a:r>
              <a:t>Core Question: How accurately can regression estimate house prices, and how should uncertainty be communicated?</a:t>
            </a:r>
          </a:p>
          <a:p>
            <a:pPr>
              <a:spcAft>
                <a:spcPts val="1200"/>
              </a:spcAft>
              <a:defRPr sz="2000"/>
            </a:pPr>
            <a:r>
              <a:t>Dataset: Chennai Metropolitan Housing Dataset (2,500 records, CC0/MIT Educational Use).</a:t>
            </a:r>
          </a:p>
          <a:p>
            <a:pPr>
              <a:spcAft>
                <a:spcPts val="1200"/>
              </a:spcAft>
              <a:defRPr sz="2000"/>
            </a:pPr>
            <a:r>
              <a:t>Target Variable: PRICE_LAKHS (Total transaction value in INR Lakhs).</a:t>
            </a:r>
          </a:p>
          <a:p>
            <a:pPr>
              <a:spcAft>
                <a:spcPts val="1200"/>
              </a:spcAft>
              <a:defRPr sz="2000"/>
            </a:pPr>
            <a:r>
              <a:t>Geographic Scope: 8 major Chennai residential corridors (Anna Nagar, Adyar, Porur, OMR, Velachery, Tambaram).</a:t>
            </a:r>
          </a:p>
          <a:p>
            <a:pPr>
              <a:spcAft>
                <a:spcPts val="1200"/>
              </a:spcAft>
              <a:defRPr sz="2000"/>
            </a:pPr>
            <a:r>
              <a:t>Intended Audience: First-time homebuyers &amp; retail investors seeking transparent sanity checks.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Data Leakage Audit &amp; Preprocessing Pipeline (Steps 3–4)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000"/>
            </a:pPr>
            <a:r>
              <a:t>Dropped Target Leakage Columns: PRICE_PER_SQFT, REG_FEE_LAKHS (7% stamp fee), COMMIS_LAKHS (brokerage).</a:t>
            </a:r>
          </a:p>
          <a:p>
            <a:pPr>
              <a:spcAft>
                <a:spcPts val="1200"/>
              </a:spcAft>
              <a:defRPr sz="2000"/>
            </a:pPr>
            <a:r>
              <a:t>Outlier Handling: Capped extreme luxury anomalies above the 99th percentile.</a:t>
            </a:r>
          </a:p>
          <a:p>
            <a:pPr>
              <a:spcAft>
                <a:spcPts val="1200"/>
              </a:spcAft>
              <a:defRPr sz="2000"/>
            </a:pPr>
            <a:r>
              <a:t>Reproducible Pipeline: scikit-learn ColumnTransformer prevents train-test contamination.</a:t>
            </a:r>
          </a:p>
          <a:p>
            <a:pPr>
              <a:spcAft>
                <a:spcPts val="1200"/>
              </a:spcAft>
              <a:defRPr sz="2000"/>
            </a:pPr>
            <a:r>
              <a:t>Numerical Branch: Median Imputation + StandardScaler | Categorical Branch: Mode Imputation + OneHotEncoder.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Exploratory Data Analysis (Step 5)</a:t>
            </a:r>
          </a:p>
        </p:txBody>
      </p:sp>
      <p:pic>
        <p:nvPicPr>
          <p:cNvPr id="3" name="Picture 2" descr="eda_visualis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280160"/>
            <a:ext cx="7581207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Model Comparison &amp; Metrics in ₹ Lakhs (Steps 6–7)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000"/>
            </a:pPr>
            <a:r>
              <a:t>0. Baseline (Median DummyRegressor): MAE = ₹38.45 Lakhs | RMSE = ₹52.10 Lakhs | R² = -0.04</a:t>
            </a:r>
          </a:p>
          <a:p>
            <a:pPr>
              <a:spcAft>
                <a:spcPts val="1200"/>
              </a:spcAft>
              <a:defRPr sz="2000"/>
            </a:pPr>
            <a:r>
              <a:t>1. Ridge Linear Regression: MAE = ₹9.82 Lakhs | RMSE = ₹13.90 Lakhs | R² = 0.898</a:t>
            </a:r>
          </a:p>
          <a:p>
            <a:pPr>
              <a:spcAft>
                <a:spcPts val="1200"/>
              </a:spcAft>
              <a:defRPr sz="2000"/>
            </a:pPr>
            <a:r>
              <a:t>2. Random Forest Regressor: MAE = ₹7.45 Lakhs | RMSE = ₹10.65 Lakhs | R² = 0.941</a:t>
            </a:r>
          </a:p>
          <a:p>
            <a:pPr>
              <a:spcAft>
                <a:spcPts val="1200"/>
              </a:spcAft>
              <a:defRPr sz="2000"/>
            </a:pPr>
            <a:r>
              <a:t>3. Gradient Boosting (Champion): MAE = ₹6.68 Lakhs | RMSE = ₹9.42 Lakhs | R² = 0.953</a:t>
            </a:r>
          </a:p>
          <a:p>
            <a:pPr>
              <a:spcAft>
                <a:spcPts val="1200"/>
              </a:spcAft>
              <a:defRPr sz="2000"/>
            </a:pPr>
            <a:r>
              <a:t>Interpretation: MAE (₹6.68L) is average error; RMSE (₹9.42L) penalizes large misses on luxury homes.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Diagnostics &amp; Permutation Importance (Steps 8 &amp; 10)</a:t>
            </a:r>
          </a:p>
        </p:txBody>
      </p:sp>
      <p:pic>
        <p:nvPicPr>
          <p:cNvPr id="3" name="Picture 2" descr="model_diagnostics_and_xa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10698480" cy="427939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Subgroup Error Analysis &amp; Uncertainty Range (Steps 8–9)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000"/>
            </a:pPr>
            <a:r>
              <a:t>Budget Tier (&lt; ₹65L): MAE = ₹3.95 Lakhs | RMSE = ₹5.12 Lakhs.</a:t>
            </a:r>
          </a:p>
          <a:p>
            <a:pPr>
              <a:spcAft>
                <a:spcPts val="1200"/>
              </a:spcAft>
              <a:defRPr sz="2000"/>
            </a:pPr>
            <a:r>
              <a:t>Mid-Segment (₹65L – ₹1.30 Cr): MAE = ₹6.40 Lakhs | RMSE = ₹8.25 Lakhs.</a:t>
            </a:r>
          </a:p>
          <a:p>
            <a:pPr>
              <a:spcAft>
                <a:spcPts val="1200"/>
              </a:spcAft>
              <a:defRPr sz="2000"/>
            </a:pPr>
            <a:r>
              <a:t>Luxury Tier (&gt; ₹1.30 Cr): MAE = ₹10.52 Lakhs | RMSE = ₹14.60 Lakhs.</a:t>
            </a:r>
          </a:p>
          <a:p>
            <a:pPr>
              <a:spcAft>
                <a:spcPts val="1200"/>
              </a:spcAft>
              <a:defRPr sz="2000"/>
            </a:pPr>
            <a:r>
              <a:t>Communicating Uncertainty: Trained 5th and 95th percentile Quantile Regressors (alpha=0.05, 0.95).</a:t>
            </a:r>
          </a:p>
          <a:p>
            <a:pPr>
              <a:spcAft>
                <a:spcPts val="1200"/>
              </a:spcAft>
              <a:defRPr sz="2000"/>
            </a:pPr>
            <a:r>
              <a:t>Prototype Output: Displays Point Estimate + 90% Confidence Price Range + Mandatory Caveat Banner.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Responsible AI, Market Drift &amp; Limitations (Steps 11–12)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000"/>
            </a:pPr>
            <a:r>
              <a:t>Geographic Bias: Fewer luxury training examples in peripheral zones (Tambaram/Chromepet).</a:t>
            </a:r>
          </a:p>
          <a:p>
            <a:pPr>
              <a:spcAft>
                <a:spcPts val="1200"/>
              </a:spcAft>
              <a:defRPr sz="2000"/>
            </a:pPr>
            <a:r>
              <a:t>Changing Markets &amp; Data Age: Static historical data lags behind 2026 Chennai Metro Phase-2 appreciation.</a:t>
            </a:r>
          </a:p>
          <a:p>
            <a:pPr>
              <a:spcAft>
                <a:spcPts val="1200"/>
              </a:spcAft>
              <a:defRPr sz="2000"/>
            </a:pPr>
            <a:r>
              <a:t>Not a Formal Valuation: Statistical ML output is for decision-support only—not a certified bank appraisal.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